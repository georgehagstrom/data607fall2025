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2"/>
  </p:notesMasterIdLst>
  <p:sldIdLst>
    <p:sldId id="256" r:id="rId2"/>
    <p:sldId id="258" r:id="rId3"/>
    <p:sldId id="261" r:id="rId4"/>
    <p:sldId id="264" r:id="rId5"/>
    <p:sldId id="265" r:id="rId6"/>
    <p:sldId id="266" r:id="rId7"/>
    <p:sldId id="267" r:id="rId8"/>
    <p:sldId id="271" r:id="rId9"/>
    <p:sldId id="268" r:id="rId10"/>
    <p:sldId id="269" r:id="rId11"/>
    <p:sldId id="270" r:id="rId12"/>
    <p:sldId id="278" r:id="rId13"/>
    <p:sldId id="272" r:id="rId14"/>
    <p:sldId id="277" r:id="rId15"/>
    <p:sldId id="275" r:id="rId16"/>
    <p:sldId id="290" r:id="rId17"/>
    <p:sldId id="276" r:id="rId18"/>
    <p:sldId id="281" r:id="rId19"/>
    <p:sldId id="291" r:id="rId20"/>
    <p:sldId id="274" r:id="rId21"/>
    <p:sldId id="279" r:id="rId22"/>
    <p:sldId id="262" r:id="rId23"/>
    <p:sldId id="287" r:id="rId24"/>
    <p:sldId id="288" r:id="rId25"/>
    <p:sldId id="280" r:id="rId26"/>
    <p:sldId id="289" r:id="rId27"/>
    <p:sldId id="285" r:id="rId28"/>
    <p:sldId id="286" r:id="rId29"/>
    <p:sldId id="293" r:id="rId30"/>
    <p:sldId id="29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5"/>
    <p:restoredTop sz="85998"/>
  </p:normalViewPr>
  <p:slideViewPr>
    <p:cSldViewPr snapToGrid="0">
      <p:cViewPr varScale="1">
        <p:scale>
          <a:sx n="58" d="100"/>
          <a:sy n="58" d="100"/>
        </p:scale>
        <p:origin x="216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1B05A-F6EC-B349-BA1E-1FA15EBF1AB4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2F61E-849D-6C41-BF51-8CE7D7B193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18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a typical analysis workflow</a:t>
            </a:r>
          </a:p>
          <a:p>
            <a:r>
              <a:rPr lang="en-US" dirty="0"/>
              <a:t>Load the data, </a:t>
            </a:r>
          </a:p>
          <a:p>
            <a:r>
              <a:rPr lang="en-US" dirty="0"/>
              <a:t>Conduct the analysis, make the charts, gain insights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54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377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avoids the bottleneck of one piece of hardware and theoretically if we are careful we can do it in parallel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312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is designed to be very broad. Typically when people say spark they mean they distributed nature but it technically refers to all components such as the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86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82E15-A335-20B4-9939-49580821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A0E66-EECA-3376-01F1-ADC2DFB3A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3DD10-CC82-887D-372B-D11EB3F93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Taken directly from the docs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C5DF7-2D97-CCB3-A212-9EFDB074C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250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expensive</a:t>
            </a:r>
          </a:p>
          <a:p>
            <a:r>
              <a:rPr lang="en-US" dirty="0"/>
              <a:t>Data is transferred to nodes for transformations, shuffle forces a lot of network activity between nodes</a:t>
            </a:r>
          </a:p>
          <a:p>
            <a:endParaRPr lang="en-US" dirty="0"/>
          </a:p>
          <a:p>
            <a:r>
              <a:rPr lang="en-US" dirty="0"/>
              <a:t>TODO: Insert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7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081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RHS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48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this in two ways:</a:t>
            </a:r>
          </a:p>
          <a:p>
            <a:r>
              <a:rPr lang="en-US" dirty="0"/>
              <a:t>One input partition is needed to get one output partition</a:t>
            </a:r>
          </a:p>
          <a:p>
            <a:r>
              <a:rPr lang="en-US" dirty="0"/>
              <a:t>Table-data – rows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638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4EE49-A497-728C-F436-F121164D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935C5-F8ED-321D-D0F9-62A1E77B6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520EC-06D5-B5BA-5915-D44A93399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this in two ways:</a:t>
            </a:r>
          </a:p>
          <a:p>
            <a:r>
              <a:rPr lang="en-US" dirty="0"/>
              <a:t>One input partition is needed to get one output partition</a:t>
            </a:r>
          </a:p>
          <a:p>
            <a:r>
              <a:rPr lang="en-US" dirty="0"/>
              <a:t>Table-data – rows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3B8A0-5460-14DE-DF52-3410DDB4D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597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204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A7A3-EF48-5F72-841A-975B828E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7E15E-81E2-B5A0-5B8E-BE86BE608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A9F96-ECBC-5F01-AC7D-2FDB31304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CB2CC-A4FA-B46F-649F-5A569E281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923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data skew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732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store results on a node for later use</a:t>
            </a:r>
          </a:p>
          <a:p>
            <a:r>
              <a:rPr lang="en-US" dirty="0"/>
              <a:t>Looking at an example worker node we see that there is space for a cache – this saves operations to the node for later use</a:t>
            </a:r>
          </a:p>
          <a:p>
            <a:r>
              <a:rPr lang="en-US" dirty="0"/>
              <a:t>Avoid repeating history</a:t>
            </a:r>
          </a:p>
          <a:p>
            <a:r>
              <a:rPr lang="en-US" dirty="0"/>
              <a:t>Tied to the partition itself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05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Avoids the dual shuffle action</a:t>
            </a:r>
          </a:p>
          <a:p>
            <a:r>
              <a:rPr lang="en-US" dirty="0"/>
              <a:t>Only less than half the data gets shuffled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964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details about billing,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F61E-849D-6C41-BF51-8CE7D7B1931D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96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865" y="1"/>
            <a:ext cx="8916134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0" y="1295400"/>
            <a:ext cx="1028968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390" y="5600700"/>
            <a:ext cx="1028968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/>
        </p:nvSpPr>
        <p:spPr>
          <a:xfrm>
            <a:off x="10978425" y="4987103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/>
        </p:nvSpPr>
        <p:spPr>
          <a:xfrm>
            <a:off x="10121360" y="35814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00446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/>
        </p:nvSpPr>
        <p:spPr>
          <a:xfrm>
            <a:off x="-1" y="1586"/>
            <a:ext cx="3429101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270" y="723900"/>
            <a:ext cx="4115872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4418" y="1981201"/>
            <a:ext cx="4115872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/>
        </p:nvSpPr>
        <p:spPr>
          <a:xfrm>
            <a:off x="4838769" y="9144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/>
        </p:nvSpPr>
        <p:spPr>
          <a:xfrm>
            <a:off x="3086110" y="569595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/>
        </p:nvSpPr>
        <p:spPr>
          <a:xfrm>
            <a:off x="5562461" y="2022021"/>
            <a:ext cx="838418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16417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/>
        </p:nvSpPr>
        <p:spPr>
          <a:xfrm>
            <a:off x="6705759" y="1148419"/>
            <a:ext cx="4562353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4015" y="598170"/>
            <a:ext cx="3097028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/>
        </p:nvSpPr>
        <p:spPr>
          <a:xfrm>
            <a:off x="10821630" y="5353077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/>
        </p:nvSpPr>
        <p:spPr>
          <a:xfrm>
            <a:off x="6337560" y="805517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0" y="685800"/>
            <a:ext cx="637447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171" y="4876800"/>
            <a:ext cx="637447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7069" y="883471"/>
            <a:ext cx="2439731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31242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/>
        </p:nvSpPr>
        <p:spPr>
          <a:xfrm>
            <a:off x="3275865" y="609600"/>
            <a:ext cx="5640269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/>
        </p:nvSpPr>
        <p:spPr>
          <a:xfrm>
            <a:off x="5562461" y="2022021"/>
            <a:ext cx="838418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50" y="495300"/>
            <a:ext cx="4573191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70069" y="2022021"/>
            <a:ext cx="4444570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14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/>
        </p:nvSpPr>
        <p:spPr>
          <a:xfrm>
            <a:off x="8153935" y="567055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616" y="2286000"/>
            <a:ext cx="4573191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/>
        </p:nvSpPr>
        <p:spPr>
          <a:xfrm>
            <a:off x="7353627" y="44196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/>
        </p:nvSpPr>
        <p:spPr>
          <a:xfrm>
            <a:off x="8611255" y="-21999"/>
            <a:ext cx="3580744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36996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/>
        </p:nvSpPr>
        <p:spPr>
          <a:xfrm>
            <a:off x="6705758" y="838202"/>
            <a:ext cx="503050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868" y="1752600"/>
            <a:ext cx="495235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616" y="2286000"/>
            <a:ext cx="4573191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7781" y="2057400"/>
            <a:ext cx="4344531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43138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1" y="685800"/>
            <a:ext cx="5688817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/>
        </p:nvSpPr>
        <p:spPr>
          <a:xfrm>
            <a:off x="7132006" y="3969437"/>
            <a:ext cx="640829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6638" y="533400"/>
            <a:ext cx="5055362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/>
        </p:nvSpPr>
        <p:spPr>
          <a:xfrm>
            <a:off x="6369810" y="2407337"/>
            <a:ext cx="640829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21860" y="990600"/>
            <a:ext cx="407014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4713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/>
        </p:nvSpPr>
        <p:spPr>
          <a:xfrm>
            <a:off x="6362771" y="1317171"/>
            <a:ext cx="503050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616" y="2286000"/>
            <a:ext cx="4573191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2286000"/>
            <a:ext cx="5564049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248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616" y="2286000"/>
            <a:ext cx="4573191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6000" y="2286000"/>
            <a:ext cx="5560242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432286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/>
        </p:nvSpPr>
        <p:spPr>
          <a:xfrm>
            <a:off x="7027874" y="0"/>
            <a:ext cx="4462496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4148" y="2743200"/>
            <a:ext cx="1013724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50065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/>
        </p:nvSpPr>
        <p:spPr>
          <a:xfrm>
            <a:off x="7027874" y="0"/>
            <a:ext cx="4462496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/>
        </p:nvSpPr>
        <p:spPr>
          <a:xfrm>
            <a:off x="6684884" y="13970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/>
        </p:nvSpPr>
        <p:spPr>
          <a:xfrm>
            <a:off x="11088400" y="56388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4150" y="2438401"/>
            <a:ext cx="4913004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8387" y="2438401"/>
            <a:ext cx="4913004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7518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/>
        </p:nvSpPr>
        <p:spPr>
          <a:xfrm>
            <a:off x="9960752" y="0"/>
            <a:ext cx="2231247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/>
        </p:nvSpPr>
        <p:spPr>
          <a:xfrm>
            <a:off x="0" y="0"/>
            <a:ext cx="76061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/>
        </p:nvSpPr>
        <p:spPr>
          <a:xfrm>
            <a:off x="7849056" y="3810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/>
        </p:nvSpPr>
        <p:spPr>
          <a:xfrm>
            <a:off x="8561914" y="1066800"/>
            <a:ext cx="685979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610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496" y="2591494"/>
            <a:ext cx="44196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294" y="5258494"/>
            <a:ext cx="1219200" cy="760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4150" y="2286000"/>
            <a:ext cx="4913004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8387" y="2286000"/>
            <a:ext cx="4913004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5590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/>
        </p:nvSpPr>
        <p:spPr>
          <a:xfrm>
            <a:off x="2132567" y="0"/>
            <a:ext cx="7926864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/>
        </p:nvSpPr>
        <p:spPr>
          <a:xfrm>
            <a:off x="5562461" y="2022021"/>
            <a:ext cx="838418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50" y="495300"/>
            <a:ext cx="4573191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70069" y="2247900"/>
            <a:ext cx="4444570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63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1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490" y="533400"/>
            <a:ext cx="8689064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490" y="1828800"/>
            <a:ext cx="8689064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491" y="6155268"/>
            <a:ext cx="565456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4418" y="6155268"/>
            <a:ext cx="137195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D2B058-C8CB-BF4C-A882-3366E7B0059D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5035" y="6155268"/>
            <a:ext cx="121951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0DCAAB9-A82C-4142-9B81-0EB6DC9096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611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frkovacs@outlook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A1B7-66AD-7AC4-86D7-DC9AEF3F8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90" y="1295400"/>
            <a:ext cx="1028968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Spark &amp; Distributed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0D235-A82E-DADB-EBBC-3A7E5EA52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390" y="5600700"/>
            <a:ext cx="10289680" cy="533400"/>
          </a:xfrm>
        </p:spPr>
        <p:txBody>
          <a:bodyPr anchor="t">
            <a:normAutofit/>
          </a:bodyPr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029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E716-4BE0-AB64-F0DC-37513A163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355532-7E26-2669-A753-DFE3A67E6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52511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294149" y="1570382"/>
          <a:ext cx="4573192" cy="485059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841005">
                  <a:extLst>
                    <a:ext uri="{9D8B030D-6E8A-4147-A177-3AD203B41FA5}">
                      <a16:colId xmlns:a16="http://schemas.microsoft.com/office/drawing/2014/main" val="77568843"/>
                    </a:ext>
                  </a:extLst>
                </a:gridCol>
                <a:gridCol w="2732187">
                  <a:extLst>
                    <a:ext uri="{9D8B030D-6E8A-4147-A177-3AD203B41FA5}">
                      <a16:colId xmlns:a16="http://schemas.microsoft.com/office/drawing/2014/main" val="1950635748"/>
                    </a:ext>
                  </a:extLst>
                </a:gridCol>
              </a:tblGrid>
              <a:tr h="80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Framing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969458"/>
                  </a:ext>
                </a:extLst>
              </a:tr>
              <a:tr h="80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Parallelism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010754"/>
                  </a:ext>
                </a:extLst>
              </a:tr>
              <a:tr h="80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Spark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953361"/>
                  </a:ext>
                </a:extLst>
              </a:tr>
              <a:tr h="80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Lazy Evaluation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846889"/>
                  </a:ext>
                </a:extLst>
              </a:tr>
              <a:tr h="80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How to win the Spark Game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59283"/>
                  </a:ext>
                </a:extLst>
              </a:tr>
              <a:tr h="808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cap="none" spc="0" dirty="0">
                          <a:solidFill>
                            <a:schemeClr val="tx1"/>
                          </a:solidFill>
                        </a:rPr>
                        <a:t>Q&amp;A</a:t>
                      </a:r>
                    </a:p>
                  </a:txBody>
                  <a:tcPr marL="120462" marR="120462" marT="120462" marB="1204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27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953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0D21-EC5B-0B59-1DB2-78131C492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E81CC-78E4-F9AE-73F4-020B32AC8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“Without big data analytics, companies are blind and deaf, wandering out onto the web like deer on a freeway.”</a:t>
            </a:r>
          </a:p>
          <a:p>
            <a:r>
              <a:rPr lang="en-US" sz="3200" dirty="0"/>
              <a:t>-</a:t>
            </a:r>
            <a:r>
              <a:rPr lang="en-US" i="1" dirty="0"/>
              <a:t>Geoffrey Moore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4477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1DA5F-A526-C7C1-EB28-67A8A993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8067-C07F-E23D-06FD-D2CCEE1CD08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Imagine a typical analysis for a 4 Gb dataset</a:t>
            </a:r>
          </a:p>
          <a:p>
            <a:r>
              <a:rPr lang="en-US" dirty="0"/>
              <a:t>Load data onto one machine</a:t>
            </a:r>
          </a:p>
          <a:p>
            <a:r>
              <a:rPr lang="en-US" dirty="0"/>
              <a:t>Conduct analysis</a:t>
            </a:r>
          </a:p>
          <a:p>
            <a:r>
              <a:rPr lang="en-US" dirty="0"/>
              <a:t>Data processed in relation to your hardware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36A1-355F-3DA5-94DF-E304F7173F9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65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91FE-A1D7-7340-71E2-E7796582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478B-5499-9273-BF0A-7CF49592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0563B-D9FA-4467-01FA-56FCF133CCC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Imagine a typical analysis for a 4 Gb dataset</a:t>
            </a:r>
          </a:p>
          <a:p>
            <a:r>
              <a:rPr lang="en-US" dirty="0"/>
              <a:t>Load data onto one machine</a:t>
            </a:r>
          </a:p>
          <a:p>
            <a:r>
              <a:rPr lang="en-US" dirty="0"/>
              <a:t>Conduct analysis</a:t>
            </a:r>
          </a:p>
          <a:p>
            <a:r>
              <a:rPr lang="en-US" dirty="0"/>
              <a:t>Data processed in relation to your hardware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679D5-9A6F-7193-FC10-529FFA2365B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Key Points:</a:t>
            </a:r>
          </a:p>
          <a:p>
            <a:r>
              <a:rPr lang="en-US" dirty="0"/>
              <a:t>Data moves at most once</a:t>
            </a:r>
          </a:p>
          <a:p>
            <a:r>
              <a:rPr lang="en-US" dirty="0"/>
              <a:t>Direct relationship between local hardware and processing speed</a:t>
            </a:r>
          </a:p>
          <a:p>
            <a:r>
              <a:rPr lang="en-US" dirty="0"/>
              <a:t>Largely sufficient</a:t>
            </a:r>
          </a:p>
        </p:txBody>
      </p:sp>
    </p:spTree>
    <p:extLst>
      <p:ext uri="{BB962C8B-B14F-4D97-AF65-F5344CB8AC3E}">
        <p14:creationId xmlns:p14="http://schemas.microsoft.com/office/powerpoint/2010/main" val="390083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E212-E1B7-D878-6CD8-4744BE09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13A1-472B-7BE6-F96E-3D029504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6F8FD-72DA-A88B-0B3D-4E1BF0CEBFC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Imagine a typical analysis for a </a:t>
            </a:r>
            <a:r>
              <a:rPr lang="en-US" b="1" dirty="0"/>
              <a:t>120 Gb</a:t>
            </a:r>
            <a:r>
              <a:rPr lang="en-US" dirty="0"/>
              <a:t> dataset</a:t>
            </a:r>
          </a:p>
          <a:p>
            <a:r>
              <a:rPr lang="en-US" strike="sngStrike" dirty="0"/>
              <a:t>Load data onto one machine</a:t>
            </a:r>
          </a:p>
          <a:p>
            <a:r>
              <a:rPr lang="en-US" dirty="0"/>
              <a:t>Conduct analysis </a:t>
            </a:r>
            <a:r>
              <a:rPr lang="en-US" i="1" dirty="0"/>
              <a:t>piece-by-piece</a:t>
            </a:r>
            <a:endParaRPr lang="en-US" dirty="0"/>
          </a:p>
          <a:p>
            <a:r>
              <a:rPr lang="en-US" dirty="0"/>
              <a:t>Significant hardware bottleneck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6A469-144A-A12B-4B31-CE4F07A6BB0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Key Points:</a:t>
            </a:r>
          </a:p>
          <a:p>
            <a:r>
              <a:rPr lang="en-US" dirty="0"/>
              <a:t>Data moves at most once</a:t>
            </a:r>
          </a:p>
          <a:p>
            <a:r>
              <a:rPr lang="en-US" dirty="0"/>
              <a:t>Direct relationship between local hardware and processing speed</a:t>
            </a:r>
          </a:p>
          <a:p>
            <a:r>
              <a:rPr lang="en-US" dirty="0"/>
              <a:t>Largely sufficient</a:t>
            </a:r>
          </a:p>
        </p:txBody>
      </p:sp>
    </p:spTree>
    <p:extLst>
      <p:ext uri="{BB962C8B-B14F-4D97-AF65-F5344CB8AC3E}">
        <p14:creationId xmlns:p14="http://schemas.microsoft.com/office/powerpoint/2010/main" val="219735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3BEB-B2EB-D4E7-2625-91F4FB30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58BF-AD68-2610-0EBE-8CD78EC4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D5E09-080F-5AB6-31E2-A266A4114DB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Imagine a typical analysis for a </a:t>
            </a:r>
            <a:r>
              <a:rPr lang="en-US" b="1" dirty="0"/>
              <a:t>120 Gb</a:t>
            </a:r>
            <a:r>
              <a:rPr lang="en-US" dirty="0"/>
              <a:t> dataset</a:t>
            </a:r>
          </a:p>
          <a:p>
            <a:r>
              <a:rPr lang="en-US" strike="sngStrike" dirty="0"/>
              <a:t>Load data onto one machine</a:t>
            </a:r>
          </a:p>
          <a:p>
            <a:r>
              <a:rPr lang="en-US" dirty="0"/>
              <a:t>Conduct analysis </a:t>
            </a:r>
            <a:r>
              <a:rPr lang="en-US" i="1" dirty="0"/>
              <a:t>piece-by-piece</a:t>
            </a:r>
          </a:p>
          <a:p>
            <a:pPr lvl="1"/>
            <a:r>
              <a:rPr lang="en-US" dirty="0"/>
              <a:t>Eventual need to recombine the data</a:t>
            </a:r>
          </a:p>
          <a:p>
            <a:r>
              <a:rPr lang="en-US" dirty="0"/>
              <a:t>Significant hardware bottleneck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A0F0F-05EC-D0D0-5D6D-B8AE8E64FF6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8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0B733-124D-F881-1539-77D59949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2BF8-3816-8116-4BC9-8D6E1DA4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DFE8-CC59-F00F-C2CB-AEF10BBE85E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Imagine a typical analysis for a </a:t>
            </a:r>
            <a:r>
              <a:rPr lang="en-US" b="1" dirty="0"/>
              <a:t>120 Gb</a:t>
            </a:r>
            <a:r>
              <a:rPr lang="en-US" dirty="0"/>
              <a:t> dataset</a:t>
            </a:r>
          </a:p>
          <a:p>
            <a:r>
              <a:rPr lang="en-US" strike="sngStrike" dirty="0"/>
              <a:t>Load data onto one machine</a:t>
            </a:r>
          </a:p>
          <a:p>
            <a:r>
              <a:rPr lang="en-US" dirty="0"/>
              <a:t>Conduct analysis </a:t>
            </a:r>
            <a:r>
              <a:rPr lang="en-US" i="1" dirty="0"/>
              <a:t>piece-by-piece</a:t>
            </a:r>
          </a:p>
          <a:p>
            <a:pPr lvl="1"/>
            <a:r>
              <a:rPr lang="en-US" dirty="0"/>
              <a:t>Eventual need to recombine the data</a:t>
            </a:r>
          </a:p>
          <a:p>
            <a:r>
              <a:rPr lang="en-US" dirty="0"/>
              <a:t>Significant hardware bottleneck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CA491-F879-BDD3-DDA7-1D2D737998C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Key Points:</a:t>
            </a:r>
          </a:p>
          <a:p>
            <a:r>
              <a:rPr lang="en-US" dirty="0"/>
              <a:t>Each row has same schema and similar properties is tabular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59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71F0-EE73-7B60-FAEF-4320E335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BB086-3530-B186-34BC-F6A15FCFAC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What if we had a fleet of computers to do the processing in parallel?</a:t>
            </a:r>
          </a:p>
        </p:txBody>
      </p:sp>
    </p:spTree>
    <p:extLst>
      <p:ext uri="{BB962C8B-B14F-4D97-AF65-F5344CB8AC3E}">
        <p14:creationId xmlns:p14="http://schemas.microsoft.com/office/powerpoint/2010/main" val="168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FAAC-11B1-7583-AF02-F88ECADD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BB3F2E-E415-C548-F372-4FACD5C22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u="sng" dirty="0"/>
              <a:t>Distributed Computing</a:t>
            </a:r>
            <a:r>
              <a:rPr lang="en-US" dirty="0"/>
              <a:t> – “brings together multiple computers, servers and networks to accomplish computing tasks of widely varying sizes and purposes.” – Powell and Smalley, IBM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u="sng" dirty="0"/>
              <a:t>MapReduce</a:t>
            </a:r>
            <a:r>
              <a:rPr lang="en-US" dirty="0"/>
              <a:t> – Spiritual predecessor of Spark. Parallel computing then recombination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75657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3AF1-ADEC-7E53-D2BD-2C378E97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4B69-2422-D710-E121-C7745A3F4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616" y="2286000"/>
            <a:ext cx="10270784" cy="4267200"/>
          </a:xfrm>
        </p:spPr>
        <p:txBody>
          <a:bodyPr/>
          <a:lstStyle/>
          <a:p>
            <a:r>
              <a:rPr lang="en-US" u="sng" dirty="0"/>
              <a:t>Spark</a:t>
            </a:r>
            <a:r>
              <a:rPr lang="en-US" dirty="0"/>
              <a:t> – “Apache Spark is a unified computing engine and a set of libraries for parallel data processing on computer clusters.” (Chambers 2018)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Goal: Unified platform for big data applications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Highly-optimized APIs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Lazy Evaluation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Usually associated with Parquet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Leverages multiple compute nodes</a:t>
            </a:r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786271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72CF9-0C42-CD7E-4A87-F6F88DC0B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Parquet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02BA6-797A-0468-EB0F-1DF422825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b="0" u="sng" dirty="0"/>
              <a:t>Parquet</a:t>
            </a:r>
            <a:r>
              <a:rPr lang="en-US" b="0" dirty="0"/>
              <a:t> – An open-source, columnar storage format</a:t>
            </a:r>
          </a:p>
          <a:p>
            <a:pPr marL="617220" lvl="1"/>
            <a:r>
              <a:rPr lang="en-US" dirty="0"/>
              <a:t>Supported by query engines using partition pruning</a:t>
            </a:r>
          </a:p>
          <a:p>
            <a:pPr marL="617220" lvl="1"/>
            <a:r>
              <a:rPr lang="en-US" b="0" dirty="0"/>
              <a:t>Schema stored in each file (footer metadata)</a:t>
            </a:r>
          </a:p>
          <a:p>
            <a:pPr marL="617220" lvl="1"/>
            <a:r>
              <a:rPr lang="en-US" dirty="0"/>
              <a:t>Enables predicate pushdown: supports summary stats per row group</a:t>
            </a:r>
          </a:p>
          <a:p>
            <a:pPr marL="297180"/>
            <a:r>
              <a:rPr lang="en-US" u="sng" dirty="0"/>
              <a:t>Partition</a:t>
            </a:r>
            <a:r>
              <a:rPr lang="en-US" dirty="0"/>
              <a:t> – Splitting data into defined-value-driven buckets at the file storage level</a:t>
            </a:r>
          </a:p>
          <a:p>
            <a:pPr marL="617220" lvl="1"/>
            <a:r>
              <a:rPr lang="en-US" dirty="0"/>
              <a:t>“partitioned” blocks of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2837DE-681D-7A8A-AD8F-18087BFEBA1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789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034D-0630-7529-5D9C-EF814E1F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CC9C-23EB-E416-1216-CDD19D06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Spark: The most prominent</a:t>
            </a:r>
          </a:p>
        </p:txBody>
      </p:sp>
      <p:pic>
        <p:nvPicPr>
          <p:cNvPr id="5" name="Content Placeholder 4" descr="A diagram of cluster manager&#10;&#10;AI-generated content may be incorrect.">
            <a:extLst>
              <a:ext uri="{FF2B5EF4-FFF2-40B4-BE49-F238E27FC236}">
                <a16:creationId xmlns:a16="http://schemas.microsoft.com/office/drawing/2014/main" id="{0DECA898-D41A-475E-86BC-8FF51A147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26073" y="1848118"/>
            <a:ext cx="9169819" cy="4400282"/>
          </a:xfrm>
        </p:spPr>
      </p:pic>
    </p:spTree>
    <p:extLst>
      <p:ext uri="{BB962C8B-B14F-4D97-AF65-F5344CB8AC3E}">
        <p14:creationId xmlns:p14="http://schemas.microsoft.com/office/powerpoint/2010/main" val="4121149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C8FA-94AC-D10B-D877-FAA3BE2AC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Shuffle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9C916-FB48-E32C-A78F-1FEB724F6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Shuffle</a:t>
            </a:r>
            <a:r>
              <a:rPr lang="en-US" dirty="0"/>
              <a:t> – A state in Spark in which data must be re-partitioned between worker nodes</a:t>
            </a:r>
          </a:p>
          <a:p>
            <a:r>
              <a:rPr lang="en-US" dirty="0"/>
              <a:t>Very expensive operation</a:t>
            </a:r>
          </a:p>
          <a:p>
            <a:r>
              <a:rPr lang="en-US" dirty="0"/>
              <a:t>Unavoidable at times</a:t>
            </a:r>
          </a:p>
        </p:txBody>
      </p:sp>
      <p:pic>
        <p:nvPicPr>
          <p:cNvPr id="6" name="Content Placeholder 5" descr="A diagram of a network of paper&#10;&#10;AI-generated content may be incorrect.">
            <a:extLst>
              <a:ext uri="{FF2B5EF4-FFF2-40B4-BE49-F238E27FC236}">
                <a16:creationId xmlns:a16="http://schemas.microsoft.com/office/drawing/2014/main" id="{8CEAE127-E5F8-DE2A-420D-62B4E0751C9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7336509" y="2286000"/>
            <a:ext cx="3083169" cy="3962400"/>
          </a:xfrm>
        </p:spPr>
      </p:pic>
    </p:spTree>
    <p:extLst>
      <p:ext uri="{BB962C8B-B14F-4D97-AF65-F5344CB8AC3E}">
        <p14:creationId xmlns:p14="http://schemas.microsoft.com/office/powerpoint/2010/main" val="3252383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66C7-0D21-7E2C-C813-EFBEA9F5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49" y="609600"/>
            <a:ext cx="491618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Lazy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07C2D-EDD4-1045-DD17-4C84198786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4150" y="2286000"/>
            <a:ext cx="4913004" cy="4267200"/>
          </a:xfrm>
        </p:spPr>
        <p:txBody>
          <a:bodyPr>
            <a:normAutofit/>
          </a:bodyPr>
          <a:lstStyle/>
          <a:p>
            <a:r>
              <a:rPr lang="en-US" u="sng" dirty="0"/>
              <a:t>Lazy Evaluation</a:t>
            </a:r>
            <a:r>
              <a:rPr lang="en-US" dirty="0"/>
              <a:t> – The concept of Spark not executing a query until absolutely necessary</a:t>
            </a:r>
          </a:p>
          <a:p>
            <a:r>
              <a:rPr lang="en-US" u="sng" dirty="0"/>
              <a:t>Transformation</a:t>
            </a:r>
            <a:r>
              <a:rPr lang="en-US" dirty="0"/>
              <a:t> – “[Operations] which create a new dataset from an existing one” (Spark 4.0.1 docs)</a:t>
            </a:r>
          </a:p>
          <a:p>
            <a:pPr lvl="1"/>
            <a:r>
              <a:rPr lang="en-US" dirty="0"/>
              <a:t>Under the hood: Makes plans as a DAG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u="sng" dirty="0"/>
              <a:t>Action</a:t>
            </a:r>
            <a:r>
              <a:rPr lang="en-US" dirty="0"/>
              <a:t> – An operation that returns a value. Forces execution</a:t>
            </a:r>
            <a:endParaRPr lang="en-US" u="sng" dirty="0"/>
          </a:p>
          <a:p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FA9CA9-E01A-19A0-0BEC-B44C5C85658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7370773" y="2286000"/>
            <a:ext cx="3208232" cy="4267200"/>
          </a:xfrm>
          <a:noFill/>
        </p:spPr>
      </p:pic>
    </p:spTree>
    <p:extLst>
      <p:ext uri="{BB962C8B-B14F-4D97-AF65-F5344CB8AC3E}">
        <p14:creationId xmlns:p14="http://schemas.microsoft.com/office/powerpoint/2010/main" val="1801796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2717F-D3BF-10E7-D3FE-CCBE5D20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Catalyst, DAG Scheduler and Tungsten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B24C4-E239-C5C5-4C21-7C57B46BA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Catalyst</a:t>
            </a:r>
            <a:r>
              <a:rPr lang="en-US" dirty="0"/>
              <a:t> – Spark’s logical query optimizer</a:t>
            </a:r>
          </a:p>
          <a:p>
            <a:pPr lvl="1"/>
            <a:r>
              <a:rPr lang="en-US" dirty="0"/>
              <a:t>Optimizes transformations for best execution order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Predicate pushdown</a:t>
            </a:r>
          </a:p>
          <a:p>
            <a:pPr lvl="2"/>
            <a:r>
              <a:rPr lang="en-US" dirty="0"/>
              <a:t>Column pruning</a:t>
            </a:r>
          </a:p>
          <a:p>
            <a:pPr lvl="2"/>
            <a:r>
              <a:rPr lang="en-US" dirty="0"/>
              <a:t>Simplification</a:t>
            </a:r>
          </a:p>
          <a:p>
            <a:r>
              <a:rPr lang="en-US" u="sng" dirty="0"/>
              <a:t>DAG Scheduler</a:t>
            </a:r>
            <a:r>
              <a:rPr lang="en-US" dirty="0"/>
              <a:t> – Transforms the plan into stages</a:t>
            </a:r>
            <a:endParaRPr lang="en-US" u="sng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AA661-8BA3-EB7F-7B94-1E2135F8F68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u="sng" dirty="0"/>
              <a:t>Stage</a:t>
            </a:r>
            <a:r>
              <a:rPr lang="en-US" dirty="0"/>
              <a:t> – Formed by chaining as many narrow transformations as possible together </a:t>
            </a:r>
            <a:r>
              <a:rPr lang="en-US" i="1" dirty="0"/>
              <a:t>between shuffles</a:t>
            </a:r>
            <a:endParaRPr lang="en-US" dirty="0"/>
          </a:p>
          <a:p>
            <a:pPr lvl="1"/>
            <a:r>
              <a:rPr lang="en-US" dirty="0"/>
              <a:t>Tasks are generated from stages, 1 per partition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33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FDD3-379D-6495-8C38-A05A297D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C54F-A30F-1AF8-ACA0-66D0C941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CC7E-6E48-7C30-A246-E70FF2BA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Lazy Evaluation</a:t>
            </a:r>
            <a:r>
              <a:rPr lang="en-US" dirty="0"/>
              <a:t> – The concept of Spark not executing a query until absolutely necessary</a:t>
            </a:r>
          </a:p>
          <a:p>
            <a:r>
              <a:rPr lang="en-US" u="sng" dirty="0"/>
              <a:t>Transformation</a:t>
            </a:r>
            <a:r>
              <a:rPr lang="en-US" dirty="0"/>
              <a:t> – “[Operations] which create a new dataset from an existing one” (Spark 4.0.1 docs)</a:t>
            </a:r>
          </a:p>
          <a:p>
            <a:pPr lvl="1"/>
            <a:r>
              <a:rPr lang="en-US" dirty="0"/>
              <a:t>Under the hood: Makes plans</a:t>
            </a:r>
          </a:p>
          <a:p>
            <a:pPr lvl="1"/>
            <a:r>
              <a:rPr lang="en-US" dirty="0"/>
              <a:t>DAG</a:t>
            </a:r>
          </a:p>
          <a:p>
            <a:r>
              <a:rPr lang="en-US" u="sng" dirty="0"/>
              <a:t>Action</a:t>
            </a:r>
            <a:r>
              <a:rPr lang="en-US" dirty="0"/>
              <a:t> – An operation that returns a value. Forces execution</a:t>
            </a:r>
            <a:endParaRPr lang="en-US" u="sng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7F76F-4EF3-7D71-3C01-654D2D4AB1E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So what?</a:t>
            </a:r>
          </a:p>
          <a:p>
            <a:r>
              <a:rPr lang="en-US" dirty="0"/>
              <a:t>Structure operations to maximize transformations and end with an action</a:t>
            </a:r>
          </a:p>
          <a:p>
            <a:r>
              <a:rPr lang="en-US" dirty="0"/>
              <a:t>Transformations can be chained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39244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0DBE-F35B-7282-D307-31D154B4D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Narrow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F8E-B0EA-83AF-BDB0-E93D28FE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Narrow transformations</a:t>
            </a:r>
            <a:r>
              <a:rPr lang="en-US" dirty="0"/>
              <a:t> – Operations that can be computed row-wise</a:t>
            </a:r>
          </a:p>
          <a:p>
            <a:pPr lvl="1"/>
            <a:r>
              <a:rPr lang="en-US" dirty="0"/>
              <a:t>1:1 between partition blocks</a:t>
            </a:r>
          </a:p>
          <a:p>
            <a:r>
              <a:rPr lang="en-US" dirty="0"/>
              <a:t>One input partition block is needed to produce one output</a:t>
            </a:r>
          </a:p>
        </p:txBody>
      </p:sp>
      <p:pic>
        <p:nvPicPr>
          <p:cNvPr id="6" name="Content Placeholder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E0AFAD33-7CED-B4AF-652A-4441DBF4467F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7326267" y="2286000"/>
            <a:ext cx="3103654" cy="3962400"/>
          </a:xfrm>
        </p:spPr>
      </p:pic>
    </p:spTree>
    <p:extLst>
      <p:ext uri="{BB962C8B-B14F-4D97-AF65-F5344CB8AC3E}">
        <p14:creationId xmlns:p14="http://schemas.microsoft.com/office/powerpoint/2010/main" val="2100502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E12D-9D33-754E-9AF8-AD98BA8D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91BF-0636-22CF-4661-2494681C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58F6A-2461-594D-6743-592AD668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Wide transformations</a:t>
            </a:r>
            <a:r>
              <a:rPr lang="en-US" dirty="0"/>
              <a:t> – Operations that cross between partition blocks</a:t>
            </a:r>
          </a:p>
          <a:p>
            <a:r>
              <a:rPr lang="en-US" dirty="0"/>
              <a:t>Data movement: Shuffle</a:t>
            </a:r>
          </a:p>
          <a:p>
            <a:r>
              <a:rPr lang="en-US" dirty="0"/>
              <a:t>Examples (mostly):</a:t>
            </a:r>
          </a:p>
          <a:p>
            <a:pPr lvl="1"/>
            <a:r>
              <a:rPr lang="en-US" dirty="0"/>
              <a:t>GroupBy</a:t>
            </a:r>
          </a:p>
          <a:p>
            <a:pPr lvl="1"/>
            <a:r>
              <a:rPr lang="en-US" dirty="0"/>
              <a:t>Join</a:t>
            </a:r>
          </a:p>
        </p:txBody>
      </p:sp>
      <p:pic>
        <p:nvPicPr>
          <p:cNvPr id="8" name="Content Placeholder 7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BEE7CA37-33EB-D99F-628D-55E992CD089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805610" y="2286000"/>
            <a:ext cx="4144967" cy="3962400"/>
          </a:xfrm>
        </p:spPr>
      </p:pic>
    </p:spTree>
    <p:extLst>
      <p:ext uri="{BB962C8B-B14F-4D97-AF65-F5344CB8AC3E}">
        <p14:creationId xmlns:p14="http://schemas.microsoft.com/office/powerpoint/2010/main" val="235202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DC3C3-75A6-E008-84D5-C4F08F09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Spark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315F7-49C7-BD07-AB95-7DF9DDDD71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800" dirty="0"/>
              <a:t>Maximize parallelism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800" dirty="0"/>
              <a:t>Minimize shuffles</a:t>
            </a:r>
          </a:p>
        </p:txBody>
      </p:sp>
    </p:spTree>
    <p:extLst>
      <p:ext uri="{BB962C8B-B14F-4D97-AF65-F5344CB8AC3E}">
        <p14:creationId xmlns:p14="http://schemas.microsoft.com/office/powerpoint/2010/main" val="2704998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7C04-B629-59B2-9D19-C7AF14F4C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C7A6-D305-FCD6-539D-9C75CD3C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Win the Spark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162AE-8916-F480-CDF8-A334B538A7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800" dirty="0"/>
              <a:t>Smart partitioning Strategies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800" dirty="0"/>
              <a:t>Caching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US" sz="2800" dirty="0"/>
              <a:t>Broadcast Joins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3663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9D564-1C85-3ABE-F0AB-34155626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4D786-B230-93D8-544D-11887F5323C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partitions on disk that are:</a:t>
            </a:r>
          </a:p>
          <a:p>
            <a:pPr lvl="1"/>
            <a:r>
              <a:rPr lang="en-US" dirty="0"/>
              <a:t>Evenly sized</a:t>
            </a:r>
          </a:p>
          <a:p>
            <a:pPr lvl="1"/>
            <a:r>
              <a:rPr lang="en-US" dirty="0"/>
              <a:t>Commonly filtered on</a:t>
            </a:r>
          </a:p>
          <a:p>
            <a:pPr lvl="1"/>
            <a:r>
              <a:rPr lang="en-US" dirty="0"/>
              <a:t>Commonly joined on</a:t>
            </a:r>
          </a:p>
          <a:p>
            <a:pPr lvl="1"/>
            <a:r>
              <a:rPr lang="en-US" dirty="0"/>
              <a:t>Hit the sweet spot in terms of cardinality</a:t>
            </a:r>
          </a:p>
          <a:p>
            <a:r>
              <a:rPr lang="en-US" dirty="0"/>
              <a:t>Common patterns:</a:t>
            </a:r>
          </a:p>
          <a:p>
            <a:pPr lvl="1"/>
            <a:r>
              <a:rPr lang="en-US" dirty="0"/>
              <a:t>Year / month / day</a:t>
            </a:r>
          </a:p>
          <a:p>
            <a:pPr lvl="1"/>
            <a:r>
              <a:rPr lang="en-US" dirty="0"/>
              <a:t>Predictable categorical variable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66F75-902E-F60C-4A2C-B250FC6641F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580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30666-9F49-F655-0402-E363241D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11F6-CDE7-BBEC-DFDF-26B917DF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 Strategies: Repartition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506A1-3ECC-76D4-9731-29B8E922495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Repartition</a:t>
            </a:r>
            <a:r>
              <a:rPr lang="en-US" dirty="0"/>
              <a:t> – An expensive transformation that repartitions the data on either node or disk</a:t>
            </a:r>
          </a:p>
          <a:p>
            <a:r>
              <a:rPr lang="en-US" dirty="0"/>
              <a:t>Fixed upfront vs. variable cost</a:t>
            </a:r>
          </a:p>
          <a:p>
            <a:r>
              <a:rPr lang="en-US" dirty="0"/>
              <a:t>Re-write to disk vs. cache: Reusability</a:t>
            </a:r>
          </a:p>
          <a:p>
            <a:r>
              <a:rPr lang="en-US" dirty="0"/>
              <a:t>Dangerous tool: Use when you have a good reason 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8C54F-E65B-2C22-6611-DD389504167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When to use:</a:t>
            </a:r>
          </a:p>
          <a:p>
            <a:pPr lvl="1"/>
            <a:r>
              <a:rPr lang="en-US" dirty="0"/>
              <a:t>After a series of narrow transformations that do not require a shuffle</a:t>
            </a:r>
          </a:p>
          <a:p>
            <a:pPr lvl="1"/>
            <a:r>
              <a:rPr lang="en-US" dirty="0"/>
              <a:t>Prior to immediately needing it repeatedly</a:t>
            </a:r>
          </a:p>
          <a:p>
            <a:pPr lvl="1"/>
            <a:r>
              <a:rPr lang="en-US" dirty="0"/>
              <a:t>Fix data skew</a:t>
            </a:r>
          </a:p>
          <a:p>
            <a:pPr lvl="1"/>
            <a:r>
              <a:rPr lang="en-US" dirty="0"/>
              <a:t>Prior to heavy groupBy / join operations</a:t>
            </a:r>
          </a:p>
          <a:p>
            <a:pPr lvl="1"/>
            <a:r>
              <a:rPr lang="en-US" dirty="0"/>
              <a:t>Under or over parallelization</a:t>
            </a:r>
          </a:p>
        </p:txBody>
      </p:sp>
    </p:spTree>
    <p:extLst>
      <p:ext uri="{BB962C8B-B14F-4D97-AF65-F5344CB8AC3E}">
        <p14:creationId xmlns:p14="http://schemas.microsoft.com/office/powerpoint/2010/main" val="37234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80DCE-B01E-2721-5A13-9A92AF3D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Data Skew / Partitioning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BDCB7-7627-F4B4-BE40-18D53AA59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682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ADDA-EAE2-C60A-7A5C-9A15FE946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E54DA-C3EC-1FE5-170D-F2BB1E5E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Caching</a:t>
            </a:r>
            <a:r>
              <a:rPr lang="en-US" dirty="0"/>
              <a:t> – Maintaining a record of transformations for later use</a:t>
            </a:r>
          </a:p>
          <a:p>
            <a:r>
              <a:rPr lang="en-US" dirty="0"/>
              <a:t>“If you ever compute this, keep the partitions around”</a:t>
            </a:r>
          </a:p>
          <a:p>
            <a:r>
              <a:rPr lang="en-US" dirty="0"/>
              <a:t>When to use:</a:t>
            </a:r>
          </a:p>
          <a:p>
            <a:pPr lvl="1"/>
            <a:r>
              <a:rPr lang="en-US" dirty="0"/>
              <a:t>Re-using common patterns</a:t>
            </a:r>
          </a:p>
          <a:p>
            <a:pPr lvl="1"/>
            <a:r>
              <a:rPr lang="en-US" dirty="0"/>
              <a:t>Data is expensive</a:t>
            </a:r>
          </a:p>
        </p:txBody>
      </p:sp>
      <p:pic>
        <p:nvPicPr>
          <p:cNvPr id="10" name="Content Placeholder 9" descr="A close-up of a computer&#10;&#10;AI-generated content may be incorrect.">
            <a:extLst>
              <a:ext uri="{FF2B5EF4-FFF2-40B4-BE49-F238E27FC236}">
                <a16:creationId xmlns:a16="http://schemas.microsoft.com/office/drawing/2014/main" id="{361944D1-FDD2-D350-D537-ECBFBE3939F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966744" y="2940050"/>
            <a:ext cx="3822700" cy="2654300"/>
          </a:xfrm>
        </p:spPr>
      </p:pic>
    </p:spTree>
    <p:extLst>
      <p:ext uri="{BB962C8B-B14F-4D97-AF65-F5344CB8AC3E}">
        <p14:creationId xmlns:p14="http://schemas.microsoft.com/office/powerpoint/2010/main" val="394418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42F79-FCAE-D823-D833-9C648131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71DC3-A168-106B-1798-24E3D0D68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Joins often involve data mismatches</a:t>
            </a:r>
          </a:p>
          <a:p>
            <a:r>
              <a:rPr lang="en-US" dirty="0"/>
              <a:t>“A small dataset is copied to every node in a cluster allowing for local joins with the larger dataset on each node”</a:t>
            </a:r>
          </a:p>
          <a:p>
            <a:r>
              <a:rPr lang="en-US" dirty="0"/>
              <a:t>“Acceptable risk” for shuffle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FA707-BDD5-4F12-3C5C-51F1ED08D1B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88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F3D9-7931-3115-4727-1A126F37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C55C9-6CF5-314E-E1CC-8ADE84A37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Managed Spark platform</a:t>
            </a:r>
          </a:p>
          <a:p>
            <a:r>
              <a:rPr lang="en-US" dirty="0"/>
              <a:t>R, Python, Scala, SQL</a:t>
            </a:r>
          </a:p>
          <a:p>
            <a:r>
              <a:rPr lang="en-US" dirty="0"/>
              <a:t>DBU billing</a:t>
            </a:r>
          </a:p>
          <a:p>
            <a:r>
              <a:rPr lang="en-US" dirty="0"/>
              <a:t>SaaS model</a:t>
            </a:r>
          </a:p>
          <a:p>
            <a:r>
              <a:rPr lang="en-US" dirty="0"/>
              <a:t>Homework!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BE279-7FED-7B32-525C-29DF503A5A2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06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FB90-C55D-3C45-3300-FEB8D8C9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3C8A-E283-6DB2-94E0-A7CAAB9B2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computing, runs in parallel</a:t>
            </a:r>
          </a:p>
          <a:p>
            <a:r>
              <a:rPr lang="en-US" dirty="0"/>
              <a:t>The Spark Game</a:t>
            </a:r>
          </a:p>
          <a:p>
            <a:pPr lvl="1"/>
            <a:r>
              <a:rPr lang="en-US" dirty="0"/>
              <a:t>Maximize parallelism</a:t>
            </a:r>
          </a:p>
          <a:p>
            <a:pPr lvl="1"/>
            <a:r>
              <a:rPr lang="en-US" dirty="0"/>
              <a:t>Minimize Shuffles</a:t>
            </a:r>
          </a:p>
          <a:p>
            <a:r>
              <a:rPr lang="en-US" dirty="0"/>
              <a:t>Small optimizations go a long way</a:t>
            </a:r>
          </a:p>
          <a:p>
            <a:r>
              <a:rPr lang="en-US" dirty="0"/>
              <a:t>Actions vs. Transformations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CFB46-3228-8E98-DCEA-04D5F8864F4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373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3DBA-48CC-B251-4050-A9606A02E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4B052-1839-EC35-CEEE-F146ABCBEA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77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387F-2BFE-FEB7-CB29-7E48BEF6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7526-B4E6-3B4B-6AF4-0C6F5E721D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frkovacs@outlook.com</a:t>
            </a:r>
            <a:endParaRPr lang="en-US" dirty="0"/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Frank-Kovacs.net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/>
              <a:t>Linkedin.com/in/frank-r-kovacs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1837D-D061-9615-AAF7-E7152960045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633648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_strategy_slides_blue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_strategy_slides_blue" id="{1A282AEA-675D-3946-A91D-A80A7A9E0017}" vid="{82DA9F6A-3548-BC4B-BC5E-6ABBCC859F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business_strategy_slides_blue</Template>
  <TotalTime>2989</TotalTime>
  <Words>1134</Words>
  <Application>Microsoft Macintosh PowerPoint</Application>
  <PresentationFormat>Widescreen</PresentationFormat>
  <Paragraphs>210</Paragraphs>
  <Slides>30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Century Gothic</vt:lpstr>
      <vt:lpstr>business_strategy_slides_blue</vt:lpstr>
      <vt:lpstr>Spark &amp; Distributed Computing</vt:lpstr>
      <vt:lpstr>Agenda</vt:lpstr>
      <vt:lpstr>Introduction</vt:lpstr>
      <vt:lpstr>Framing</vt:lpstr>
      <vt:lpstr>Framing</vt:lpstr>
      <vt:lpstr>Framing</vt:lpstr>
      <vt:lpstr>Framing</vt:lpstr>
      <vt:lpstr>Framing</vt:lpstr>
      <vt:lpstr>Question</vt:lpstr>
      <vt:lpstr>Definitions</vt:lpstr>
      <vt:lpstr>Spark</vt:lpstr>
      <vt:lpstr>Aside: Parquet</vt:lpstr>
      <vt:lpstr>Spark: The most prominent</vt:lpstr>
      <vt:lpstr>Shuffle</vt:lpstr>
      <vt:lpstr>Lazy Evaluation</vt:lpstr>
      <vt:lpstr>Aside: Catalyst, DAG Scheduler and Tungsten</vt:lpstr>
      <vt:lpstr>Lazy Evaluation</vt:lpstr>
      <vt:lpstr>Narrow Transformation</vt:lpstr>
      <vt:lpstr>Wide Transformation</vt:lpstr>
      <vt:lpstr>The Spark Game</vt:lpstr>
      <vt:lpstr>How to Win the Spark Game</vt:lpstr>
      <vt:lpstr>Partitioning Strategies</vt:lpstr>
      <vt:lpstr>Partitioning Strategies: Repartition</vt:lpstr>
      <vt:lpstr>Example: Data Skew / Partitioning</vt:lpstr>
      <vt:lpstr>Caching</vt:lpstr>
      <vt:lpstr>Broadcast Joins</vt:lpstr>
      <vt:lpstr>Databricks</vt:lpstr>
      <vt:lpstr>Takeaways</vt:lpstr>
      <vt:lpstr>QA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Kovacs</dc:creator>
  <cp:lastModifiedBy>Frank Kovacs</cp:lastModifiedBy>
  <cp:revision>115</cp:revision>
  <dcterms:created xsi:type="dcterms:W3CDTF">2025-11-26T16:40:27Z</dcterms:created>
  <dcterms:modified xsi:type="dcterms:W3CDTF">2025-12-01T23:27:25Z</dcterms:modified>
</cp:coreProperties>
</file>